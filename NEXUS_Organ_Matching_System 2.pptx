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6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0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943600" cy="5943600"/>
          </a:xfrm>
          <a:prstGeom prst="ellipse">
            <a:avLst/>
          </a:prstGeom>
          <a:solidFill>
            <a:srgbClr val="236B4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5029200" cy="502920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</p:sp>
      <p:pic>
        <p:nvPicPr>
          <p:cNvPr id="4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50292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DONOR &amp; RECIPIENT MATCHING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90008" y="4160520"/>
            <a:ext cx="201168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4343400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connecting donors, recipients, and hospitals — bringing speed, transparency, and trust to organ matching.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|  Computer Science &amp; Business Systems (CSBS)  |  2nd Year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 matching needs a better system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074920" cy="1170432"/>
          </a:xfrm>
          <a:prstGeom prst="roundRect">
            <a:avLst>
              <a:gd name="adj" fmla="val 7031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1A22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901952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7" name="Image 1" descr="icon_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24" y="2009668"/>
            <a:ext cx="351495" cy="3514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7282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 waiting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463040" y="20574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die every year before a matching organ is found in time.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80760" y="1600200"/>
            <a:ext cx="5074920" cy="1170432"/>
          </a:xfrm>
          <a:prstGeom prst="roundRect">
            <a:avLst>
              <a:gd name="adj" fmla="val 7031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1A22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81928" y="1901952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2" name="Image 2" descr="icon_file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644" y="2009668"/>
            <a:ext cx="351495" cy="3514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17282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record-keeping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995160" y="20574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recipient data is scattered across paper files and disconnected systems.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090672"/>
            <a:ext cx="5074920" cy="1170432"/>
          </a:xfrm>
          <a:prstGeom prst="roundRect">
            <a:avLst>
              <a:gd name="adj" fmla="val 7031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1A22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49808" y="3392424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7" name="Image 3" descr="icon_hourgl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524" y="3500140"/>
            <a:ext cx="351495" cy="3514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186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matching process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35478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compatible donors by hand takes precious time in an emergency.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80760" y="3090672"/>
            <a:ext cx="5074920" cy="1170432"/>
          </a:xfrm>
          <a:prstGeom prst="roundRect">
            <a:avLst>
              <a:gd name="adj" fmla="val 7031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1A22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81928" y="3392424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2" name="Image 4" descr="icon_war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9644" y="3500140"/>
            <a:ext cx="351495" cy="3514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95160" y="32186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visibility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995160" y="35478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lack a single, transparent platform to verify and track transplant cases.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4581144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replace this slow, manual process with a fast, digital, transparent matching system.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|  Organ Donor &amp; Recipient Matching System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&amp; Objectives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1B3B6F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NEXUS Does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01168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is a web application that connects donors, recipients, hospitals, and administrators on one platform. Donors register the organs they wish to donate; recipients or hospitals register patient needs. The system automatically finds compatible matches and alerts the hospital for medical verification — cutting search time and improving transparency.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68680" y="43434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E8B5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892808" y="43434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E8B57"/>
          </a:solidFill>
          <a:ln/>
        </p:spPr>
      </p:sp>
      <p:sp>
        <p:nvSpPr>
          <p:cNvPr id="10" name="Text 7"/>
          <p:cNvSpPr/>
          <p:nvPr/>
        </p:nvSpPr>
        <p:spPr>
          <a:xfrm>
            <a:off x="1892808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16936" y="43434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E8B57"/>
          </a:solidFill>
          <a:ln/>
        </p:spPr>
      </p:sp>
      <p:sp>
        <p:nvSpPr>
          <p:cNvPr id="12" name="Text 9"/>
          <p:cNvSpPr/>
          <p:nvPr/>
        </p:nvSpPr>
        <p:spPr>
          <a:xfrm>
            <a:off x="2916936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41064" y="43434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E8B57"/>
          </a:solidFill>
          <a:ln/>
        </p:spPr>
      </p:sp>
      <p:sp>
        <p:nvSpPr>
          <p:cNvPr id="14" name="Text 11"/>
          <p:cNvSpPr/>
          <p:nvPr/>
        </p:nvSpPr>
        <p:spPr>
          <a:xfrm>
            <a:off x="3941064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074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network, matching in real time.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40680" y="1234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40680" y="1737360"/>
            <a:ext cx="512064" cy="512064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8" name="Image 1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972" y="1834652"/>
            <a:ext cx="317480" cy="3174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96712" y="2249424"/>
            <a:ext cx="0" cy="329184"/>
          </a:xfrm>
          <a:prstGeom prst="line">
            <a:avLst/>
          </a:prstGeom>
          <a:noFill/>
          <a:ln w="19050">
            <a:solidFill>
              <a:srgbClr val="D8E0EA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6126480" y="175564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digital database of donors and recipients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40680" y="2578608"/>
            <a:ext cx="512064" cy="512064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2" name="Image 2" descr="icon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972" y="2675900"/>
            <a:ext cx="317480" cy="317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96712" y="3090672"/>
            <a:ext cx="0" cy="329184"/>
          </a:xfrm>
          <a:prstGeom prst="line">
            <a:avLst/>
          </a:prstGeom>
          <a:noFill/>
          <a:ln w="19050">
            <a:solidFill>
              <a:srgbClr val="D8E0EA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6126480" y="259689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match donors and recipients on compatibility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40680" y="3419856"/>
            <a:ext cx="512064" cy="512064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6" name="Image 3" descr="icon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972" y="3517148"/>
            <a:ext cx="317480" cy="3174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696712" y="3931920"/>
            <a:ext cx="0" cy="329184"/>
          </a:xfrm>
          <a:prstGeom prst="line">
            <a:avLst/>
          </a:prstGeom>
          <a:noFill/>
          <a:ln w="19050">
            <a:solidFill>
              <a:srgbClr val="D8E0EA"/>
            </a:solidFill>
            <a:prstDash val="dash"/>
          </a:ln>
        </p:spPr>
      </p:sp>
      <p:sp>
        <p:nvSpPr>
          <p:cNvPr id="28" name="Text 22"/>
          <p:cNvSpPr/>
          <p:nvPr/>
        </p:nvSpPr>
        <p:spPr>
          <a:xfrm>
            <a:off x="6126480" y="343814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time required to find a suitable organ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40680" y="4261104"/>
            <a:ext cx="512064" cy="512064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0" name="Image 4" descr="icon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972" y="4358396"/>
            <a:ext cx="317480" cy="31748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696712" y="4773168"/>
            <a:ext cx="0" cy="329184"/>
          </a:xfrm>
          <a:prstGeom prst="line">
            <a:avLst/>
          </a:prstGeom>
          <a:noFill/>
          <a:ln w="19050">
            <a:solidFill>
              <a:srgbClr val="D8E0EA"/>
            </a:solidFill>
            <a:prstDash val="dash"/>
          </a:ln>
        </p:spPr>
      </p:sp>
      <p:sp>
        <p:nvSpPr>
          <p:cNvPr id="32" name="Text 25"/>
          <p:cNvSpPr/>
          <p:nvPr/>
        </p:nvSpPr>
        <p:spPr>
          <a:xfrm>
            <a:off x="6126480" y="427939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transparency and accuracy across the process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40680" y="5102352"/>
            <a:ext cx="512064" cy="512064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4" name="Image 5" descr="icon_hospit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972" y="5199644"/>
            <a:ext cx="317480" cy="31748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696712" y="5614416"/>
            <a:ext cx="0" cy="0"/>
          </a:xfrm>
          <a:prstGeom prst="line">
            <a:avLst/>
          </a:prstGeom>
          <a:noFill/>
          <a:ln w="19050">
            <a:solidFill>
              <a:srgbClr val="D8E0EA"/>
            </a:solidFill>
            <a:prstDash val="dash"/>
          </a:ln>
        </p:spPr>
      </p:sp>
      <p:sp>
        <p:nvSpPr>
          <p:cNvPr id="36" name="Text 28"/>
          <p:cNvSpPr/>
          <p:nvPr/>
        </p:nvSpPr>
        <p:spPr>
          <a:xfrm>
            <a:off x="6126480" y="51206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hospitals manage organ donation efficiently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|  Organ Donor &amp; Recipient Matching System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 working together as one platform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31620" y="1801368"/>
            <a:ext cx="640080" cy="64008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7" name="Image 1" descr="icon_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235" y="1922983"/>
            <a:ext cx="396850" cy="3968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256032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8580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&amp; secure login for all roles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355848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8828" y="1801368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2" name="Image 2" descr="icon_don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443" y="1922983"/>
            <a:ext cx="396850" cy="3968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65576" y="256032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493008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organs &amp; donation preferences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63056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46036" y="1801368"/>
            <a:ext cx="640080" cy="64008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7" name="Image 3" descr="icon_recipi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7651" y="1922983"/>
            <a:ext cx="396850" cy="396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72784" y="256032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300216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organs &amp; track status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970264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953244" y="1801368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2" name="Image 4" descr="icon_match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4859" y="1922983"/>
            <a:ext cx="396850" cy="3968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79992" y="256032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107424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by group, organ &amp; location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" y="37947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4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531620" y="3995928"/>
            <a:ext cx="640080" cy="64008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7" name="Image 5" descr="icon_hospital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3235" y="4117543"/>
            <a:ext cx="396850" cy="3968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8368" y="47548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8580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records &amp; approve transplants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355848" y="37947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4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338828" y="3995928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2" name="Image 6" descr="icon_adm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0443" y="4117543"/>
            <a:ext cx="396850" cy="3968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465576" y="47548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3493008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generate reports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163056" y="37947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4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146036" y="3995928"/>
            <a:ext cx="640080" cy="64008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37" name="Image 7" descr="icon_be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7651" y="4117543"/>
            <a:ext cx="396850" cy="3968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272784" y="47548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6300216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hospitals, donors &amp; recipients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8970264" y="37947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3B6F"/>
          </a:solidFill>
          <a:ln/>
        </p:spPr>
      </p:sp>
      <p:sp>
        <p:nvSpPr>
          <p:cNvPr id="41" name="Text 31"/>
          <p:cNvSpPr/>
          <p:nvPr/>
        </p:nvSpPr>
        <p:spPr>
          <a:xfrm>
            <a:off x="9171432" y="406908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connect through one shared database — keeping every role in sync.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|  Organ Donor &amp; Recipient Matching System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registration to a completed, verified transplant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701775" y="3246120"/>
            <a:ext cx="8788146" cy="0"/>
          </a:xfrm>
          <a:prstGeom prst="line">
            <a:avLst/>
          </a:prstGeom>
          <a:noFill/>
          <a:ln w="38100">
            <a:solidFill>
              <a:srgbClr val="CFD8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13155" y="2857500"/>
            <a:ext cx="777240" cy="777240"/>
          </a:xfrm>
          <a:prstGeom prst="ellipse">
            <a:avLst/>
          </a:prstGeom>
          <a:solidFill>
            <a:srgbClr val="1B3B6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7" name="Image 1" descr="icon_r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465" y="3051810"/>
            <a:ext cx="388620" cy="3886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55471" y="25466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B6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555471" y="2546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8680" y="381762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427482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signs up with organ details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070784" y="2857500"/>
            <a:ext cx="777240" cy="777240"/>
          </a:xfrm>
          <a:prstGeom prst="ellipse">
            <a:avLst/>
          </a:prstGeom>
          <a:solidFill>
            <a:srgbClr val="2E8B57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2" descr="icon_requ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094" y="3051810"/>
            <a:ext cx="388620" cy="3886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313100" y="25466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313100" y="2546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626309" y="16230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Requests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626308" y="1971308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requests a required organ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28413" y="2857500"/>
            <a:ext cx="777240" cy="777240"/>
          </a:xfrm>
          <a:prstGeom prst="ellipse">
            <a:avLst/>
          </a:prstGeom>
          <a:solidFill>
            <a:srgbClr val="1B3B6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9" name="Image 3" descr="icon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723" y="3051810"/>
            <a:ext cx="388620" cy="3886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70729" y="25466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B6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70729" y="2546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383938" y="381762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Match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3938" y="427482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engine finds candidates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586042" y="2857500"/>
            <a:ext cx="777240" cy="777240"/>
          </a:xfrm>
          <a:prstGeom prst="ellipse">
            <a:avLst/>
          </a:prstGeom>
          <a:solidFill>
            <a:srgbClr val="2E8B57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4" descr="icon_verif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352" y="3051810"/>
            <a:ext cx="388620" cy="3886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828358" y="25466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828358" y="2546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141568" y="16230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Verifies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141568" y="1951468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team confirms the match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343671" y="2857500"/>
            <a:ext cx="777240" cy="777240"/>
          </a:xfrm>
          <a:prstGeom prst="ellipse">
            <a:avLst/>
          </a:prstGeom>
          <a:solidFill>
            <a:srgbClr val="1B3B6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1" name="Image 5" descr="icon_transpla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7981" y="3051810"/>
            <a:ext cx="388620" cy="38862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585987" y="25466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B6F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585987" y="2546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7899197" y="381762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Initiated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7899197" y="427482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case moves to procedure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10101301" y="2857500"/>
            <a:ext cx="777240" cy="777240"/>
          </a:xfrm>
          <a:prstGeom prst="ellipse">
            <a:avLst/>
          </a:prstGeom>
          <a:solidFill>
            <a:srgbClr val="2E8B57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mage 6" descr="icon_stat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5611" y="3051810"/>
            <a:ext cx="388620" cy="38862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10343617" y="25466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0343617" y="2546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9656826" y="16230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9702546" y="1969798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updated for all parties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logged — giving donors, recipients, and hospitals full visibility into the process.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|  Organ Donor &amp; Recipient Matching System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Technology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6" name="Shape 3"/>
          <p:cNvSpPr/>
          <p:nvPr/>
        </p:nvSpPr>
        <p:spPr>
          <a:xfrm>
            <a:off x="694944" y="1860804"/>
            <a:ext cx="438912" cy="43891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7" name="Image 1" descr="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16" y="1952976"/>
            <a:ext cx="254569" cy="2545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645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291840" y="1645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10" name="Shape 6"/>
          <p:cNvSpPr/>
          <p:nvPr/>
        </p:nvSpPr>
        <p:spPr>
          <a:xfrm>
            <a:off x="3438144" y="1860804"/>
            <a:ext cx="438912" cy="43891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1" name="Image 2" descr="icon_searc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316" y="1952976"/>
            <a:ext cx="254569" cy="2545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77640" y="1645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search &amp; auto-matching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26517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14" name="Shape 9"/>
          <p:cNvSpPr/>
          <p:nvPr/>
        </p:nvSpPr>
        <p:spPr>
          <a:xfrm>
            <a:off x="694944" y="2866644"/>
            <a:ext cx="438912" cy="43891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5" name="Image 3" descr="icon_bel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16" y="2958816"/>
            <a:ext cx="254569" cy="2545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651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291840" y="26517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18" name="Shape 12"/>
          <p:cNvSpPr/>
          <p:nvPr/>
        </p:nvSpPr>
        <p:spPr>
          <a:xfrm>
            <a:off x="3438144" y="2866644"/>
            <a:ext cx="438912" cy="43891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9" name="Image 4" descr="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0316" y="2958816"/>
            <a:ext cx="254569" cy="2545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77640" y="2651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reports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22" name="Shape 15"/>
          <p:cNvSpPr/>
          <p:nvPr/>
        </p:nvSpPr>
        <p:spPr>
          <a:xfrm>
            <a:off x="694944" y="3872484"/>
            <a:ext cx="438912" cy="43891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3" name="Image 5" descr="icon_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116" y="3964656"/>
            <a:ext cx="254569" cy="25456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34440" y="3657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verification workflow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329184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26" name="Shape 18"/>
          <p:cNvSpPr/>
          <p:nvPr/>
        </p:nvSpPr>
        <p:spPr>
          <a:xfrm>
            <a:off x="3438144" y="3872484"/>
            <a:ext cx="438912" cy="43891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7" name="Image 6" descr="icon_tra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0316" y="3964656"/>
            <a:ext cx="254569" cy="25456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977640" y="3657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status tracking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263640" y="1188720"/>
            <a:ext cx="18288" cy="489204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0" name="Text 21"/>
          <p:cNvSpPr/>
          <p:nvPr/>
        </p:nvSpPr>
        <p:spPr>
          <a:xfrm>
            <a:off x="653796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1" name="Shape 22"/>
          <p:cNvSpPr/>
          <p:nvPr/>
        </p:nvSpPr>
        <p:spPr>
          <a:xfrm>
            <a:off x="6537960" y="16459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pic>
        <p:nvPicPr>
          <p:cNvPr id="32" name="Image 7" descr="icon_html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6036" y="1773936"/>
            <a:ext cx="384048" cy="38404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583680" y="2194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8275320" y="16459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pic>
        <p:nvPicPr>
          <p:cNvPr id="35" name="Image 8" descr="icon_css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83396" y="1773936"/>
            <a:ext cx="384048" cy="38404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321040" y="2194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10012680" y="16459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pic>
        <p:nvPicPr>
          <p:cNvPr id="38" name="Image 9" descr="icon_j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0756" y="1773936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0058400" y="2194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653796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pic>
        <p:nvPicPr>
          <p:cNvPr id="41" name="Image 10" descr="icon_ph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6036" y="2825496"/>
            <a:ext cx="384048" cy="38404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58368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827532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pic>
        <p:nvPicPr>
          <p:cNvPr id="44" name="Image 11" descr="icon_mysq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3396" y="2825496"/>
            <a:ext cx="384048" cy="38404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832104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1001268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pic>
        <p:nvPicPr>
          <p:cNvPr id="47" name="Image 12" descr="icon_cod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0756" y="2825496"/>
            <a:ext cx="384048" cy="384048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1005840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XAMPP</a:t>
            </a:r>
            <a:endParaRPr lang="en-US" sz="1000" dirty="0"/>
          </a:p>
        </p:txBody>
      </p:sp>
      <p:sp>
        <p:nvSpPr>
          <p:cNvPr id="51" name="Text 36"/>
          <p:cNvSpPr/>
          <p:nvPr/>
        </p:nvSpPr>
        <p:spPr>
          <a:xfrm>
            <a:off x="6766560" y="4526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Intel i3 processor or above</a:t>
            </a:r>
            <a:endParaRPr lang="en-US" sz="1200" dirty="0"/>
          </a:p>
        </p:txBody>
      </p:sp>
      <p:sp>
        <p:nvSpPr>
          <p:cNvPr id="52" name="Text 37"/>
          <p:cNvSpPr/>
          <p:nvPr/>
        </p:nvSpPr>
        <p:spPr>
          <a:xfrm>
            <a:off x="6766560" y="4892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GB RAM or more</a:t>
            </a:r>
            <a:endParaRPr lang="en-US" sz="1200" dirty="0"/>
          </a:p>
        </p:txBody>
      </p:sp>
      <p:sp>
        <p:nvSpPr>
          <p:cNvPr id="53" name="Text 38"/>
          <p:cNvSpPr/>
          <p:nvPr/>
        </p:nvSpPr>
        <p:spPr>
          <a:xfrm>
            <a:off x="6766560" y="5257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 GB free storage</a:t>
            </a:r>
            <a:endParaRPr lang="en-US" sz="1200" dirty="0"/>
          </a:p>
        </p:txBody>
      </p:sp>
      <p:sp>
        <p:nvSpPr>
          <p:cNvPr id="54" name="Text 39"/>
          <p:cNvSpPr/>
          <p:nvPr/>
        </p:nvSpPr>
        <p:spPr>
          <a:xfrm>
            <a:off x="6766560" y="5623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Stable internet connection</a:t>
            </a:r>
            <a:endParaRPr lang="en-US" sz="1200" dirty="0"/>
          </a:p>
        </p:txBody>
      </p:sp>
      <p:sp>
        <p:nvSpPr>
          <p:cNvPr id="55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|  Organ Donor &amp; Recipient Matching System</a:t>
            </a:r>
            <a:endParaRPr lang="en-US" sz="900" dirty="0"/>
          </a:p>
        </p:txBody>
      </p:sp>
      <p:sp>
        <p:nvSpPr>
          <p:cNvPr id="56" name="Text 4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Future Scope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233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7" name="Image 1" descr="icon_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0848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9568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lives by reducing matching time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68680" y="2633472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0" name="Image 2" descr="icon_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70662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5786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donor-recipient matching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68680" y="325526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3" name="Image 3" descr="icon_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32841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200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paperwork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868680" y="3877056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4" descr="icon_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950208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3822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manage donor records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68680" y="449884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9" name="Image 5" descr="icon_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572000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71600" y="4443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transparent system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868680" y="512064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2" name="Image 6" descr="icon_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193792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371600" y="50657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hospitals and patients alike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217920" y="123444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1B3B6F"/>
          </a:solidFill>
          <a:ln/>
          <a:effectLst>
            <a:outerShdw blurRad="88900" dist="25400" dir="5400000" algn="bl" rotWithShape="0">
              <a:srgbClr val="1A2233">
                <a:alpha val="12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653796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6537960" y="2057400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7" name="Image 7" descr="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132" y="2149572"/>
            <a:ext cx="254569" cy="254569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114032" y="20299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compatibility prediction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6537960" y="2770632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0" name="Image 8" descr="icon_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132" y="2862804"/>
            <a:ext cx="254569" cy="254569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114032" y="2743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mobile application</a:t>
            </a:r>
            <a:endParaRPr lang="en-US" sz="1250" dirty="0"/>
          </a:p>
        </p:txBody>
      </p:sp>
      <p:sp>
        <p:nvSpPr>
          <p:cNvPr id="32" name="Shape 21"/>
          <p:cNvSpPr/>
          <p:nvPr/>
        </p:nvSpPr>
        <p:spPr>
          <a:xfrm>
            <a:off x="6537960" y="3483864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3" name="Image 9" descr="icon_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132" y="3576036"/>
            <a:ext cx="254569" cy="254569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114032" y="3456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government health portals</a:t>
            </a:r>
            <a:endParaRPr lang="en-US" sz="1250" dirty="0"/>
          </a:p>
        </p:txBody>
      </p:sp>
      <p:sp>
        <p:nvSpPr>
          <p:cNvPr id="35" name="Shape 23"/>
          <p:cNvSpPr/>
          <p:nvPr/>
        </p:nvSpPr>
        <p:spPr>
          <a:xfrm>
            <a:off x="6537960" y="4197096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6" name="Image 10" descr="icon_sm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132" y="4289268"/>
            <a:ext cx="254569" cy="254569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114032" y="41696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email notifications</a:t>
            </a:r>
            <a:endParaRPr lang="en-US" sz="1250" dirty="0"/>
          </a:p>
        </p:txBody>
      </p:sp>
      <p:sp>
        <p:nvSpPr>
          <p:cNvPr id="38" name="Shape 25"/>
          <p:cNvSpPr/>
          <p:nvPr/>
        </p:nvSpPr>
        <p:spPr>
          <a:xfrm>
            <a:off x="6537960" y="4910328"/>
            <a:ext cx="438912" cy="43891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9" name="Image 11" descr="icon_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0132" y="5002500"/>
            <a:ext cx="254569" cy="254569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114032" y="48828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nearest hospital search</a:t>
            </a:r>
            <a:endParaRPr lang="en-US" sz="1250" dirty="0"/>
          </a:p>
        </p:txBody>
      </p:sp>
      <p:sp>
        <p:nvSpPr>
          <p:cNvPr id="41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|  Organ Donor &amp; Recipient Matching System</a:t>
            </a:r>
            <a:endParaRPr lang="en-US" sz="900" dirty="0"/>
          </a:p>
        </p:txBody>
      </p:sp>
      <p:sp>
        <p:nvSpPr>
          <p:cNvPr id="42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NEXUS is Different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matching is a different challenge from blood donor matching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solidFill>
            <a:srgbClr val="1B3B6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417320"/>
            <a:ext cx="4215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4518" y="1417320"/>
            <a:ext cx="34392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Donor Finder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03786" y="1417320"/>
            <a:ext cx="34392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(Organ Matching)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1094415" cy="56692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3941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matches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55958" y="1920240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donors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95226" y="1920240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donors &amp; recipients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487168"/>
            <a:ext cx="11094415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487168"/>
            <a:ext cx="3941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frequency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855958" y="2487168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donate multiple times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95226" y="2487168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a one-time donation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054096"/>
            <a:ext cx="11094415" cy="56692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054096"/>
            <a:ext cx="3941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basis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55958" y="3054096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only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95226" y="3054096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group, organ type, medical fit &amp; location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621024"/>
            <a:ext cx="11094415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621024"/>
            <a:ext cx="3941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855958" y="3621024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95226" y="3621024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hospital verification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187952"/>
            <a:ext cx="11094415" cy="56692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4187952"/>
            <a:ext cx="3941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855958" y="4187952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emergencies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95226" y="4187952"/>
            <a:ext cx="32563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transplantation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50749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brings the speed of digital matching to the life-or-death task of organ transplantation.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|  Organ Donor &amp; Recipient Matching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665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3</cp:revision>
  <dcterms:created xsi:type="dcterms:W3CDTF">2026-07-27T09:54:12Z</dcterms:created>
  <dcterms:modified xsi:type="dcterms:W3CDTF">2026-07-27T10:04:46Z</dcterms:modified>
</cp:coreProperties>
</file>